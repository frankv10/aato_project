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Telegraf Extra-Light" charset="1" panose="00000300000000000000"/>
      <p:regular r:id="rId16"/>
    </p:embeddedFont>
    <p:embeddedFont>
      <p:font typeface="League Spartan" charset="1" panose="00000800000000000000"/>
      <p:regular r:id="rId17"/>
    </p:embeddedFont>
    <p:embeddedFont>
      <p:font typeface="Telegraf Bold" charset="1" panose="00000800000000000000"/>
      <p:regular r:id="rId18"/>
    </p:embeddedFont>
    <p:embeddedFont>
      <p:font typeface="Telegraf" charset="1" panose="00000500000000000000"/>
      <p:regular r:id="rId19"/>
    </p:embeddedFont>
    <p:embeddedFont>
      <p:font typeface="RoxboroughCF Bold" charset="1" panose="00000800000000000000"/>
      <p:regular r:id="rId20"/>
    </p:embeddedFont>
    <p:embeddedFont>
      <p:font typeface="Telegraf Heavy" charset="1" panose="00000A00000000000000"/>
      <p:regular r:id="rId21"/>
    </p:embeddedFont>
    <p:embeddedFont>
      <p:font typeface="RoxboroughCF Heavy" charset="1" panose="00000A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400000">
            <a:off x="3564737" y="3032733"/>
            <a:ext cx="2962363" cy="0"/>
          </a:xfrm>
          <a:prstGeom prst="line">
            <a:avLst/>
          </a:prstGeom>
          <a:ln cap="rnd" w="9525">
            <a:solidFill>
              <a:srgbClr val="6262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799041" y="1897422"/>
            <a:ext cx="2226757" cy="768183"/>
          </a:xfrm>
          <a:custGeom>
            <a:avLst/>
            <a:gdLst/>
            <a:ahLst/>
            <a:cxnLst/>
            <a:rect r="r" b="b" t="t" l="l"/>
            <a:pathLst>
              <a:path h="768183" w="2226757">
                <a:moveTo>
                  <a:pt x="0" y="0"/>
                </a:moveTo>
                <a:lnTo>
                  <a:pt x="2226757" y="0"/>
                </a:lnTo>
                <a:lnTo>
                  <a:pt x="2226757" y="768182"/>
                </a:lnTo>
                <a:lnTo>
                  <a:pt x="0" y="7681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045919" y="3328689"/>
            <a:ext cx="10964524" cy="5929611"/>
          </a:xfrm>
          <a:custGeom>
            <a:avLst/>
            <a:gdLst/>
            <a:ahLst/>
            <a:cxnLst/>
            <a:rect r="r" b="b" t="t" l="l"/>
            <a:pathLst>
              <a:path h="5929611" w="10964524">
                <a:moveTo>
                  <a:pt x="0" y="0"/>
                </a:moveTo>
                <a:lnTo>
                  <a:pt x="10964524" y="0"/>
                </a:lnTo>
                <a:lnTo>
                  <a:pt x="10964524" y="5929611"/>
                </a:lnTo>
                <a:lnTo>
                  <a:pt x="0" y="59296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047" t="-8565" r="0" b="-18179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99041" y="361717"/>
            <a:ext cx="1535705" cy="1535705"/>
          </a:xfrm>
          <a:custGeom>
            <a:avLst/>
            <a:gdLst/>
            <a:ahLst/>
            <a:cxnLst/>
            <a:rect r="r" b="b" t="t" l="l"/>
            <a:pathLst>
              <a:path h="1535705" w="1535705">
                <a:moveTo>
                  <a:pt x="0" y="0"/>
                </a:moveTo>
                <a:lnTo>
                  <a:pt x="1535705" y="0"/>
                </a:lnTo>
                <a:lnTo>
                  <a:pt x="1535705" y="1535705"/>
                </a:lnTo>
                <a:lnTo>
                  <a:pt x="0" y="15357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5270179" y="1360936"/>
            <a:ext cx="10964524" cy="2338349"/>
            <a:chOff x="0" y="0"/>
            <a:chExt cx="14619365" cy="3117798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856740"/>
              <a:ext cx="13338606" cy="12610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25"/>
                </a:lnSpc>
              </a:pPr>
              <a:r>
                <a:rPr lang="en-US" sz="3021">
                  <a:solidFill>
                    <a:srgbClr val="000000"/>
                  </a:solidFill>
                  <a:latin typeface="Telegraf Extra-Light"/>
                  <a:ea typeface="Telegraf Extra-Light"/>
                  <a:cs typeface="Telegraf Extra-Light"/>
                  <a:sym typeface="Telegraf Extra-Light"/>
                </a:rPr>
                <a:t>S</a:t>
              </a:r>
              <a:r>
                <a:rPr lang="en-US" sz="3021">
                  <a:solidFill>
                    <a:srgbClr val="000000"/>
                  </a:solidFill>
                  <a:latin typeface="Telegraf Extra-Light"/>
                  <a:ea typeface="Telegraf Extra-Light"/>
                  <a:cs typeface="Telegraf Extra-Light"/>
                  <a:sym typeface="Telegraf Extra-Light"/>
                </a:rPr>
                <a:t>istema provinciale di monitoraggio sfiori</a:t>
              </a:r>
            </a:p>
            <a:p>
              <a:pPr algn="l">
                <a:lnSpc>
                  <a:spcPts val="3625"/>
                </a:lnSpc>
              </a:pP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9050"/>
              <a:ext cx="14619365" cy="18757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20"/>
                </a:lnSpc>
              </a:pPr>
              <a:r>
                <a:rPr lang="en-US" sz="4800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Piattaforma di Gestione per AATO</a:t>
              </a:r>
            </a:p>
            <a:p>
              <a:pPr algn="l">
                <a:lnSpc>
                  <a:spcPts val="5520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8035638" y="2748909"/>
            <a:ext cx="10299987" cy="0"/>
          </a:xfrm>
          <a:prstGeom prst="line">
            <a:avLst/>
          </a:prstGeom>
          <a:ln cap="flat" w="9525">
            <a:solidFill>
              <a:srgbClr val="A2191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8035638" y="4780263"/>
            <a:ext cx="10252362" cy="0"/>
          </a:xfrm>
          <a:prstGeom prst="line">
            <a:avLst/>
          </a:prstGeom>
          <a:ln cap="flat" w="9525">
            <a:solidFill>
              <a:srgbClr val="A2191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8035638" y="6842630"/>
            <a:ext cx="10252362" cy="0"/>
          </a:xfrm>
          <a:prstGeom prst="line">
            <a:avLst/>
          </a:prstGeom>
          <a:ln cap="flat" w="9525">
            <a:solidFill>
              <a:srgbClr val="A2191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320798"/>
            <a:ext cx="2174564" cy="1138928"/>
          </a:xfrm>
          <a:custGeom>
            <a:avLst/>
            <a:gdLst/>
            <a:ahLst/>
            <a:cxnLst/>
            <a:rect r="r" b="b" t="t" l="l"/>
            <a:pathLst>
              <a:path h="1138928" w="2174564">
                <a:moveTo>
                  <a:pt x="0" y="0"/>
                </a:moveTo>
                <a:lnTo>
                  <a:pt x="2174564" y="0"/>
                </a:lnTo>
                <a:lnTo>
                  <a:pt x="2174564" y="1138928"/>
                </a:lnTo>
                <a:lnTo>
                  <a:pt x="0" y="11389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3152339"/>
            <a:ext cx="5675896" cy="3880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L'Architettura del Dato Tecnico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Modularità</a:t>
            </a:r>
            <a:r>
              <a:rPr lang="en-US" sz="21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: Separazione tra dati anagrafici, idraulici e legali per una gestione scalabile.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Integrità</a:t>
            </a:r>
            <a:r>
              <a:rPr lang="en-US" sz="21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: Uso di relazioni One-to-One per collegare ogni manufatto alle sue specifiche schede tecniche.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Standardizzazione</a:t>
            </a:r>
            <a:r>
              <a:rPr lang="en-US" sz="21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: Campi predefiniti basati su standard regionali.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144000" y="2896546"/>
            <a:ext cx="6232785" cy="157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Responsabilità del Dato:</a:t>
            </a:r>
            <a:r>
              <a:rPr lang="en-US" sz="21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AqA agisce come "data entry" tecnico, trasformando i rilievi fisici sul territorio (es. tipologia meccanica dello sfioratore) in record digitali nel database.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0" y="5224394"/>
            <a:ext cx="6232785" cy="791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Monitoraggio Ambientale</a:t>
            </a:r>
            <a:r>
              <a:rPr lang="en-US" sz="21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: Definisce la gerarchia idraulica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0" y="7085517"/>
            <a:ext cx="6232785" cy="157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Supporto alla Memoria Tecnica</a:t>
            </a:r>
            <a:r>
              <a:rPr lang="en-US" sz="21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: Popola il campo "Note" con lo storico degli interventi o vincoli specifici, rendendo il database uno strumento di memoria storica per l'azienda.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1758137"/>
            <a:ext cx="12298022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4800" b="true">
                <a:solidFill>
                  <a:srgbClr val="000000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Creazione manufatto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152339"/>
            <a:ext cx="4121416" cy="235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Questa sezione dell'applicativo è progettata per garantire ad AATO una consultazione rapida e puntuale dell'intero parco manufatti della Provincia di Mantova.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035638" y="3014915"/>
            <a:ext cx="7702150" cy="791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Nome del Manufatto</a:t>
            </a:r>
            <a:r>
              <a:rPr lang="en-US" sz="21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: Ricerca testuale per codice identificativo (es. SF-BGN-ALL1).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988013" y="4987245"/>
            <a:ext cx="7749775" cy="157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Gestione Proattiva:</a:t>
            </a:r>
            <a:r>
              <a:rPr lang="en-US" sz="21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Utilizza il sistema per tracciare le scadenze degli atti autorizzativi, assicurando che l'esercizio dei manufatti sia sempre coperto legalmente dai rinnovi della Provincia.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28700" y="540386"/>
            <a:ext cx="2168839" cy="748202"/>
          </a:xfrm>
          <a:custGeom>
            <a:avLst/>
            <a:gdLst/>
            <a:ahLst/>
            <a:cxnLst/>
            <a:rect r="r" b="b" t="t" l="l"/>
            <a:pathLst>
              <a:path h="748202" w="2168839">
                <a:moveTo>
                  <a:pt x="0" y="0"/>
                </a:moveTo>
                <a:lnTo>
                  <a:pt x="2168839" y="0"/>
                </a:lnTo>
                <a:lnTo>
                  <a:pt x="2168839" y="748202"/>
                </a:lnTo>
                <a:lnTo>
                  <a:pt x="0" y="7482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758137"/>
            <a:ext cx="12298022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4800" b="true">
                <a:solidFill>
                  <a:srgbClr val="000000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Lettura manufatto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988013" y="7078980"/>
            <a:ext cx="8633619" cy="765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0"/>
              </a:lnSpc>
              <a:spcBef>
                <a:spcPct val="0"/>
              </a:spcBef>
            </a:pPr>
            <a:r>
              <a:rPr lang="en-US" b="true" sz="2092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Stato Operativo</a:t>
            </a:r>
            <a:r>
              <a:rPr lang="en-US" sz="2092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: Filtro dinamico per monitorare l'avanzamento (Programmato, In Corso, Completato).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8035638" y="2748909"/>
            <a:ext cx="10299987" cy="0"/>
          </a:xfrm>
          <a:prstGeom prst="line">
            <a:avLst/>
          </a:prstGeom>
          <a:ln cap="flat" w="9525">
            <a:solidFill>
              <a:srgbClr val="A2191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V="true">
            <a:off x="8035638" y="4787738"/>
            <a:ext cx="10299987" cy="0"/>
          </a:xfrm>
          <a:prstGeom prst="line">
            <a:avLst/>
          </a:prstGeom>
          <a:ln cap="flat" w="9525">
            <a:solidFill>
              <a:srgbClr val="A2191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7988013" y="6826568"/>
            <a:ext cx="10299987" cy="0"/>
          </a:xfrm>
          <a:prstGeom prst="line">
            <a:avLst/>
          </a:prstGeom>
          <a:ln cap="flat" w="9525">
            <a:solidFill>
              <a:srgbClr val="A21919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3440001"/>
            <a:ext cx="16230600" cy="545693"/>
          </a:xfrm>
          <a:prstGeom prst="rect">
            <a:avLst/>
          </a:prstGeom>
          <a:solidFill>
            <a:srgbClr val="A21919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1368244" y="3478849"/>
            <a:ext cx="2113284" cy="401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b="true" sz="2200">
                <a:solidFill>
                  <a:srgbClr val="F4F4F4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Sez</a:t>
            </a:r>
            <a:r>
              <a:rPr lang="en-US" b="true" sz="2200">
                <a:solidFill>
                  <a:srgbClr val="F4F4F4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ione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731330" y="3478849"/>
            <a:ext cx="3477907" cy="401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b="true" sz="2200">
                <a:solidFill>
                  <a:srgbClr val="F4F4F4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Dati Chiave Gestiti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261228" y="3478849"/>
            <a:ext cx="2956800" cy="401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b="true" sz="2200">
                <a:solidFill>
                  <a:srgbClr val="F4F4F4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Focus Pr</a:t>
            </a:r>
            <a:r>
              <a:rPr lang="en-US" b="true" sz="2200">
                <a:solidFill>
                  <a:srgbClr val="F4F4F4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incipale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75920" y="4324340"/>
            <a:ext cx="4194135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Identità e Localizzazione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17002" y="5348160"/>
            <a:ext cx="4194135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Analisi Idraulica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75920" y="6369240"/>
            <a:ext cx="4194135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Compliance Legale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261228" y="4324340"/>
            <a:ext cx="3940233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Anagrafica Asset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230071" y="5348160"/>
            <a:ext cx="3940233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C</a:t>
            </a:r>
            <a:r>
              <a:rPr lang="en-US" sz="18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arichi e Portate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230071" y="6369240"/>
            <a:ext cx="3940233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Norm</a:t>
            </a:r>
            <a:r>
              <a:rPr lang="en-US" sz="18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ativa e Atti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346685" y="4324340"/>
            <a:ext cx="5257386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Nome univoco, Stato (ciclo di vita), Comune/Provincia, Depuratore e Recapito.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346685" y="5348160"/>
            <a:ext cx="5257386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Abitanti Equivalenti (AE), Portate (nere, secche, sfioro), Indici di efficienza.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346685" y="6346380"/>
            <a:ext cx="5257386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Scadenze autorizzazioni Provincia e Atti Consorzio.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2089773"/>
            <a:ext cx="15808899" cy="2040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4800" b="true">
                <a:solidFill>
                  <a:srgbClr val="000000"/>
                </a:solidFill>
                <a:latin typeface="RoxboroughCF Heavy"/>
                <a:ea typeface="RoxboroughCF Heavy"/>
                <a:cs typeface="RoxboroughCF Heavy"/>
                <a:sym typeface="RoxboroughCF Heavy"/>
              </a:rPr>
              <a:t>Sintesi</a:t>
            </a:r>
            <a:r>
              <a:rPr lang="en-US" sz="4800" b="true">
                <a:solidFill>
                  <a:srgbClr val="000000"/>
                </a:solidFill>
                <a:latin typeface="RoxboroughCF Heavy"/>
                <a:ea typeface="RoxboroughCF Heavy"/>
                <a:cs typeface="RoxboroughCF Heavy"/>
                <a:sym typeface="RoxboroughCF Heavy"/>
              </a:rPr>
              <a:t> Funzionalità del Sistema di Monitoraggio</a:t>
            </a:r>
          </a:p>
          <a:p>
            <a:pPr algn="l">
              <a:lnSpc>
                <a:spcPts val="4991"/>
              </a:lnSpc>
            </a:pPr>
          </a:p>
          <a:p>
            <a:pPr algn="l">
              <a:lnSpc>
                <a:spcPts val="4991"/>
              </a:lnSpc>
            </a:pPr>
          </a:p>
        </p:txBody>
      </p:sp>
      <p:sp>
        <p:nvSpPr>
          <p:cNvPr name="AutoShape 16" id="16"/>
          <p:cNvSpPr/>
          <p:nvPr/>
        </p:nvSpPr>
        <p:spPr>
          <a:xfrm>
            <a:off x="1275920" y="5138738"/>
            <a:ext cx="16230600" cy="0"/>
          </a:xfrm>
          <a:prstGeom prst="line">
            <a:avLst/>
          </a:prstGeom>
          <a:ln cap="flat" w="9525">
            <a:solidFill>
              <a:srgbClr val="A2191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275920" y="6164452"/>
            <a:ext cx="16230600" cy="0"/>
          </a:xfrm>
          <a:prstGeom prst="line">
            <a:avLst/>
          </a:prstGeom>
          <a:ln cap="flat" w="9525">
            <a:solidFill>
              <a:srgbClr val="A2191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275920" y="7162672"/>
            <a:ext cx="16230600" cy="0"/>
          </a:xfrm>
          <a:prstGeom prst="line">
            <a:avLst/>
          </a:prstGeom>
          <a:ln cap="flat" w="9525">
            <a:solidFill>
              <a:srgbClr val="A2191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1275920" y="7367460"/>
            <a:ext cx="4194135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Infrastruttura Tecnica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230071" y="7367460"/>
            <a:ext cx="3940233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Dot</a:t>
            </a:r>
            <a:r>
              <a:rPr lang="en-US" sz="18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azioni e Note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346685" y="7262685"/>
            <a:ext cx="5257386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Tipologia sfioratore, Vasche PTUA (stoccaggio prima pioggia), Note storiche.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028700" y="320798"/>
            <a:ext cx="2174564" cy="1138928"/>
          </a:xfrm>
          <a:custGeom>
            <a:avLst/>
            <a:gdLst/>
            <a:ahLst/>
            <a:cxnLst/>
            <a:rect r="r" b="b" t="t" l="l"/>
            <a:pathLst>
              <a:path h="1138928" w="2174564">
                <a:moveTo>
                  <a:pt x="0" y="0"/>
                </a:moveTo>
                <a:lnTo>
                  <a:pt x="2174564" y="0"/>
                </a:lnTo>
                <a:lnTo>
                  <a:pt x="2174564" y="1138928"/>
                </a:lnTo>
                <a:lnTo>
                  <a:pt x="0" y="11389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089773"/>
            <a:ext cx="6114786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4800" b="true">
                <a:solidFill>
                  <a:srgbClr val="000000"/>
                </a:solidFill>
                <a:latin typeface="RoxboroughCF Heavy"/>
                <a:ea typeface="RoxboroughCF Heavy"/>
                <a:cs typeface="RoxboroughCF Heavy"/>
                <a:sym typeface="RoxboroughCF Heavy"/>
              </a:rPr>
              <a:t>Lista manufatti</a:t>
            </a:r>
          </a:p>
        </p:txBody>
      </p:sp>
      <p:sp>
        <p:nvSpPr>
          <p:cNvPr name="AutoShape 3" id="3"/>
          <p:cNvSpPr/>
          <p:nvPr/>
        </p:nvSpPr>
        <p:spPr>
          <a:xfrm>
            <a:off x="5377343" y="5254316"/>
            <a:ext cx="0" cy="3714338"/>
          </a:xfrm>
          <a:prstGeom prst="line">
            <a:avLst/>
          </a:prstGeom>
          <a:ln cap="flat" w="9525">
            <a:solidFill>
              <a:srgbClr val="A2191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3254369"/>
            <a:ext cx="8115300" cy="1182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L'elenco mostrato (con oltre 300 record come SF-BGN-ALL1) rappresenta il Censimento Digitale.</a:t>
            </a:r>
          </a:p>
          <a:p>
            <a:pPr algn="l">
              <a:lnSpc>
                <a:spcPts val="3079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5143500"/>
            <a:ext cx="3121991" cy="2129911"/>
            <a:chOff x="0" y="0"/>
            <a:chExt cx="4162655" cy="2839881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144818" y="-95250"/>
              <a:ext cx="4017837" cy="3779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55"/>
                </a:lnSpc>
              </a:pP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585745"/>
              <a:ext cx="4162655" cy="22541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97"/>
                </a:lnSpc>
              </a:pPr>
              <a:r>
                <a:rPr lang="en-US" sz="1926" b="true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Efficienza Operativa</a:t>
              </a:r>
              <a:r>
                <a:rPr lang="en-US" sz="1926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: Gestione centralizzata di centinaia di infrastrutture idriche con ricerca istantanea.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601306" y="5458776"/>
            <a:ext cx="4167478" cy="1398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1"/>
              </a:lnSpc>
              <a:spcBef>
                <a:spcPct val="0"/>
              </a:spcBef>
            </a:pPr>
            <a:r>
              <a:rPr lang="en-US" b="true" sz="192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Manutenzione Dinamica: </a:t>
            </a:r>
            <a:r>
              <a:rPr lang="en-US" sz="192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Possibilità di aggiornare i parametri tecnici (Modifica) in tempo reale dopo i sopralluoghi.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219398" y="5318446"/>
            <a:ext cx="4039902" cy="1398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1"/>
              </a:lnSpc>
              <a:spcBef>
                <a:spcPct val="0"/>
              </a:spcBef>
            </a:pPr>
            <a:r>
              <a:rPr lang="en-US" b="true" sz="192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User Experience (UX):</a:t>
            </a:r>
            <a:r>
              <a:rPr lang="en-US" sz="192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Interfaccia pulita con feedback visivo (Badge di stato) per ridurre il carico cognitivo dell'operatore.</a:t>
            </a:r>
          </a:p>
        </p:txBody>
      </p:sp>
      <p:sp>
        <p:nvSpPr>
          <p:cNvPr name="AutoShape 10" id="10"/>
          <p:cNvSpPr/>
          <p:nvPr/>
        </p:nvSpPr>
        <p:spPr>
          <a:xfrm>
            <a:off x="11994091" y="5254316"/>
            <a:ext cx="0" cy="3714338"/>
          </a:xfrm>
          <a:prstGeom prst="line">
            <a:avLst/>
          </a:prstGeom>
          <a:ln cap="flat" w="9525">
            <a:solidFill>
              <a:srgbClr val="A2191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028700" y="320798"/>
            <a:ext cx="2174564" cy="1138928"/>
          </a:xfrm>
          <a:custGeom>
            <a:avLst/>
            <a:gdLst/>
            <a:ahLst/>
            <a:cxnLst/>
            <a:rect r="r" b="b" t="t" l="l"/>
            <a:pathLst>
              <a:path h="1138928" w="2174564">
                <a:moveTo>
                  <a:pt x="0" y="0"/>
                </a:moveTo>
                <a:lnTo>
                  <a:pt x="2174564" y="0"/>
                </a:lnTo>
                <a:lnTo>
                  <a:pt x="2174564" y="1138928"/>
                </a:lnTo>
                <a:lnTo>
                  <a:pt x="0" y="11389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13625" y="3548275"/>
            <a:ext cx="16245675" cy="4812781"/>
          </a:xfrm>
          <a:custGeom>
            <a:avLst/>
            <a:gdLst/>
            <a:ahLst/>
            <a:cxnLst/>
            <a:rect r="r" b="b" t="t" l="l"/>
            <a:pathLst>
              <a:path h="4812781" w="16245675">
                <a:moveTo>
                  <a:pt x="0" y="0"/>
                </a:moveTo>
                <a:lnTo>
                  <a:pt x="16245675" y="0"/>
                </a:lnTo>
                <a:lnTo>
                  <a:pt x="16245675" y="4812781"/>
                </a:lnTo>
                <a:lnTo>
                  <a:pt x="0" y="48127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089773"/>
            <a:ext cx="9691751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4800" b="true">
                <a:solidFill>
                  <a:srgbClr val="000000"/>
                </a:solidFill>
                <a:latin typeface="RoxboroughCF Heavy"/>
                <a:ea typeface="RoxboroughCF Heavy"/>
                <a:cs typeface="RoxboroughCF Heavy"/>
                <a:sym typeface="RoxboroughCF Heavy"/>
              </a:rPr>
              <a:t>Modifica ed eliminazione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28700" y="320798"/>
            <a:ext cx="2174564" cy="1138928"/>
          </a:xfrm>
          <a:custGeom>
            <a:avLst/>
            <a:gdLst/>
            <a:ahLst/>
            <a:cxnLst/>
            <a:rect r="r" b="b" t="t" l="l"/>
            <a:pathLst>
              <a:path h="1138928" w="2174564">
                <a:moveTo>
                  <a:pt x="0" y="0"/>
                </a:moveTo>
                <a:lnTo>
                  <a:pt x="2174564" y="0"/>
                </a:lnTo>
                <a:lnTo>
                  <a:pt x="2174564" y="1138928"/>
                </a:lnTo>
                <a:lnTo>
                  <a:pt x="0" y="11389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540386"/>
            <a:ext cx="2168839" cy="748202"/>
          </a:xfrm>
          <a:custGeom>
            <a:avLst/>
            <a:gdLst/>
            <a:ahLst/>
            <a:cxnLst/>
            <a:rect r="r" b="b" t="t" l="l"/>
            <a:pathLst>
              <a:path h="748202" w="2168839">
                <a:moveTo>
                  <a:pt x="0" y="0"/>
                </a:moveTo>
                <a:lnTo>
                  <a:pt x="2168839" y="0"/>
                </a:lnTo>
                <a:lnTo>
                  <a:pt x="2168839" y="748202"/>
                </a:lnTo>
                <a:lnTo>
                  <a:pt x="0" y="7482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13625" y="3469501"/>
            <a:ext cx="16245675" cy="4812781"/>
          </a:xfrm>
          <a:custGeom>
            <a:avLst/>
            <a:gdLst/>
            <a:ahLst/>
            <a:cxnLst/>
            <a:rect r="r" b="b" t="t" l="l"/>
            <a:pathLst>
              <a:path h="4812781" w="16245675">
                <a:moveTo>
                  <a:pt x="0" y="0"/>
                </a:moveTo>
                <a:lnTo>
                  <a:pt x="16245675" y="0"/>
                </a:lnTo>
                <a:lnTo>
                  <a:pt x="16245675" y="4812781"/>
                </a:lnTo>
                <a:lnTo>
                  <a:pt x="0" y="48127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089773"/>
            <a:ext cx="9691751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4800" b="true">
                <a:solidFill>
                  <a:srgbClr val="000000"/>
                </a:solidFill>
                <a:latin typeface="RoxboroughCF Heavy"/>
                <a:ea typeface="RoxboroughCF Heavy"/>
                <a:cs typeface="RoxboroughCF Heavy"/>
                <a:sym typeface="RoxboroughCF Heavy"/>
              </a:rPr>
              <a:t>Solo lettura dei manufatti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540386"/>
            <a:ext cx="2168839" cy="748202"/>
          </a:xfrm>
          <a:custGeom>
            <a:avLst/>
            <a:gdLst/>
            <a:ahLst/>
            <a:cxnLst/>
            <a:rect r="r" b="b" t="t" l="l"/>
            <a:pathLst>
              <a:path h="748202" w="2168839">
                <a:moveTo>
                  <a:pt x="0" y="0"/>
                </a:moveTo>
                <a:lnTo>
                  <a:pt x="2168839" y="0"/>
                </a:lnTo>
                <a:lnTo>
                  <a:pt x="2168839" y="748202"/>
                </a:lnTo>
                <a:lnTo>
                  <a:pt x="0" y="7482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13625" y="3038240"/>
            <a:ext cx="14149595" cy="6905726"/>
          </a:xfrm>
          <a:custGeom>
            <a:avLst/>
            <a:gdLst/>
            <a:ahLst/>
            <a:cxnLst/>
            <a:rect r="r" b="b" t="t" l="l"/>
            <a:pathLst>
              <a:path h="6905726" w="14149595">
                <a:moveTo>
                  <a:pt x="0" y="0"/>
                </a:moveTo>
                <a:lnTo>
                  <a:pt x="14149596" y="0"/>
                </a:lnTo>
                <a:lnTo>
                  <a:pt x="14149596" y="6905726"/>
                </a:lnTo>
                <a:lnTo>
                  <a:pt x="0" y="69057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71" r="0" b="-71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089773"/>
            <a:ext cx="9691751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4800" b="true">
                <a:solidFill>
                  <a:srgbClr val="000000"/>
                </a:solidFill>
                <a:latin typeface="RoxboroughCF Heavy"/>
                <a:ea typeface="RoxboroughCF Heavy"/>
                <a:cs typeface="RoxboroughCF Heavy"/>
                <a:sym typeface="RoxboroughCF Heavy"/>
              </a:rPr>
              <a:t>View delle informazioni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3700012" y="345023"/>
            <a:ext cx="2174564" cy="1138928"/>
          </a:xfrm>
          <a:custGeom>
            <a:avLst/>
            <a:gdLst/>
            <a:ahLst/>
            <a:cxnLst/>
            <a:rect r="r" b="b" t="t" l="l"/>
            <a:pathLst>
              <a:path h="1138928" w="2174564">
                <a:moveTo>
                  <a:pt x="0" y="0"/>
                </a:moveTo>
                <a:lnTo>
                  <a:pt x="2174564" y="0"/>
                </a:lnTo>
                <a:lnTo>
                  <a:pt x="2174564" y="1138927"/>
                </a:lnTo>
                <a:lnTo>
                  <a:pt x="0" y="11389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FFE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81075"/>
            <a:ext cx="8950134" cy="72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2"/>
              </a:lnSpc>
            </a:pPr>
            <a:r>
              <a:rPr lang="en-US" sz="4432" b="true">
                <a:solidFill>
                  <a:srgbClr val="000000"/>
                </a:solidFill>
                <a:latin typeface="RoxboroughCF Heavy"/>
                <a:ea typeface="RoxboroughCF Heavy"/>
                <a:cs typeface="RoxboroughCF Heavy"/>
                <a:sym typeface="RoxboroughCF Heavy"/>
              </a:rPr>
              <a:t>Prossime aggiunte: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478677"/>
            <a:ext cx="15695394" cy="5106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57020" indent="-478510" lvl="1">
              <a:lnSpc>
                <a:spcPts val="5762"/>
              </a:lnSpc>
              <a:buFont typeface="Arial"/>
              <a:buChar char="•"/>
            </a:pPr>
            <a:r>
              <a:rPr lang="en-US" sz="4432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Integrare un sistema di Download e Upload degli interi manufatti per eventuali modifiche massive di AqA;</a:t>
            </a:r>
          </a:p>
          <a:p>
            <a:pPr algn="l" marL="957020" indent="-478510" lvl="1">
              <a:lnSpc>
                <a:spcPts val="5762"/>
              </a:lnSpc>
              <a:buFont typeface="Arial"/>
              <a:buChar char="•"/>
            </a:pPr>
            <a:r>
              <a:rPr lang="en-US" sz="4432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Applicare alla piattaforma un sistema di ricerca per identificare il Comune in maniera rapida;</a:t>
            </a:r>
          </a:p>
          <a:p>
            <a:pPr algn="l" marL="957020" indent="-478510" lvl="1">
              <a:lnSpc>
                <a:spcPts val="5762"/>
              </a:lnSpc>
              <a:buFont typeface="Arial"/>
              <a:buChar char="•"/>
            </a:pPr>
            <a:r>
              <a:rPr lang="en-US" sz="4432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Iniziare a valutare la struttura lato Server e le modalità di implementazione.</a:t>
            </a:r>
          </a:p>
          <a:p>
            <a:pPr algn="l">
              <a:lnSpc>
                <a:spcPts val="5762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FFE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624968" y="2089773"/>
            <a:ext cx="7634332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240"/>
              </a:lnSpc>
            </a:pPr>
            <a:r>
              <a:rPr lang="en-US" b="true" sz="4800">
                <a:solidFill>
                  <a:srgbClr val="000000"/>
                </a:solidFill>
                <a:latin typeface="RoxboroughCF Heavy"/>
                <a:ea typeface="RoxboroughCF Heavy"/>
                <a:cs typeface="RoxboroughCF Heavy"/>
                <a:sym typeface="RoxboroughCF Heavy"/>
              </a:rPr>
              <a:t>Fine</a:t>
            </a:r>
          </a:p>
        </p:txBody>
      </p:sp>
      <p:sp>
        <p:nvSpPr>
          <p:cNvPr name="AutoShape 3" id="3"/>
          <p:cNvSpPr/>
          <p:nvPr/>
        </p:nvSpPr>
        <p:spPr>
          <a:xfrm rot="0">
            <a:off x="0" y="2744146"/>
            <a:ext cx="14526633" cy="0"/>
          </a:xfrm>
          <a:prstGeom prst="line">
            <a:avLst/>
          </a:prstGeom>
          <a:ln cap="flat" w="9525">
            <a:solidFill>
              <a:srgbClr val="A21919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DAG92bqcOcQ</dc:identifier>
  <dcterms:modified xsi:type="dcterms:W3CDTF">2011-08-01T06:04:30Z</dcterms:modified>
  <cp:revision>1</cp:revision>
  <dc:title>Piattaforma di Gestione per AATO</dc:title>
</cp:coreProperties>
</file>